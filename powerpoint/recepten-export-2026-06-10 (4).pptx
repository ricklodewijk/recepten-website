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Default Extension="gif" ContentType="image/gif"/>
  <Default Extension="jpg" ContentType="image/jpeg"/>
  <Default Extension="jpeg" ContentType="image/jpeg"/>
  <Default Extension="png" ContentType="image/png"/>
  <Default Extension="xlsx" ContentType="application/vnd.openxmlformats-officedocument.spreadsheetml.sheet"/>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7776000" cy="10908000"/>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lastView="sldView">
  <p:slideViewPr>
    <p:cSldViewPr>
      <p:cViewPr>
        <p:scale>
          <a:sx d="100" n="100"/>
          <a:sy d="100" n="100"/>
        </p:scale>
        <p:origin x="0" y="0"/>
      </p:cViewPr>
    </p:cSldViewPr>
  </p:slide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presProps" Target="presProps.xml"/>
  <Relationship Id="rId28" Type="http://schemas.openxmlformats.org/officeDocument/2006/relationships/viewProps" Target="viewProps.xml"/>
  <Relationship Id="rId29"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470144403" r:id="rId1"/>
  </p:sldLayoutIdLst>
  <p:txStyles>
    <p:titleStyle>
      <a:lvl1pPr algn="ctr">
        <a:defRPr sz="4400" kern="1200">
          <a:solidFill>
            <a:schemeClr val="lt1"/>
          </a:solidFill>
        </a:defRPr>
      </a:lvl1pPr>
      <a:extLst/>
    </p:titleStyle>
    <p:bodyStyle>
      <a:lvl1pPr algn="ctr" indent="-342900">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Apple mojito]]></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green apple]]></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jito siroo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 water]]></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Banana Berry Smoothi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aardbei]]></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Banana]]></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4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Zero Yogurt]]></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IJs]]></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Banana butter latt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yellow banana]]></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Espresso]]></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elk]]></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lagroom]]></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Berry melon palmer]]></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trawberry siroop]]></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watermelon]]></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Ice tea]]></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6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Lemonade]]></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90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Bro mosa]]></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assion fruit]]></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inaasappelsa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9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 of bier]]></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35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219075"/>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i="1" strike="noStrike" sz="1100" spc="0" u="none" cap="none">
                <a:solidFill>
                  <a:srgbClr val="6B7280">
                    <a:alpha val="100000"/>
                  </a:srgbClr>
                </a:solidFill>
                <a:latin typeface="Segoe UI"/>
              </a:rPr>
              <a:t><![CDATA[Lijkt op Dr. Oetker]]></a:t>
            </a:r>
          </a:p>
        </p:txBody>
      </p:sp>
      <p:sp>
        <p:nvSpPr>
          <p:cNvPr id="4" name=""/>
          <p:cNvSpPr txBox="1"/>
          <p:nvPr/>
        </p:nvSpPr>
        <p:spPr>
          <a:xfrm>
            <a:off x="723900" y="97155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ad06db">
                    <a:alpha val="100000"/>
                  </a:srgbClr>
                </a:solidFill>
                <a:latin typeface="Segoe UI"/>
              </a:rPr>
              <a:t><![CDATA[Brownies]]></a:t>
            </a:r>
          </a:p>
        </p:txBody>
      </p:sp>
      <p:cxnSp>
        <p:nvCxnSpPr>
          <p:cNvPr id="5" name=""/>
          <p:cNvCxnSpPr/>
          <p:nvPr/>
        </p:nvCxnSpPr>
        <p:spPr>
          <a:xfrm>
            <a:off x="723900" y="161925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6" name=""/>
          <p:cNvSpPr txBox="1"/>
          <p:nvPr/>
        </p:nvSpPr>
        <p:spPr>
          <a:xfrm>
            <a:off x="723900" y="18383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7" name=""/>
          <p:cNvCxnSpPr/>
          <p:nvPr/>
        </p:nvCxnSpPr>
        <p:spPr>
          <a:xfrm>
            <a:off x="723900" y="212407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8" name=""/>
          <p:cNvSpPr txBox="1"/>
          <p:nvPr/>
        </p:nvSpPr>
        <p:spPr>
          <a:xfrm>
            <a:off x="723900" y="226695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9"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10"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1" name=""/>
          <p:cNvSpPr txBox="1"/>
          <p:nvPr/>
        </p:nvSpPr>
        <p:spPr>
          <a:xfrm>
            <a:off x="723900" y="252412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2"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oter]]></a:t>
            </a:r>
          </a:p>
        </p:txBody>
      </p:sp>
      <p:sp>
        <p:nvSpPr>
          <p:cNvPr id="13"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0 gram]]></a:t>
            </a:r>
          </a:p>
        </p:txBody>
      </p:sp>
      <p:cxnSp>
        <p:nvCxnSpPr>
          <p:cNvPr id="14"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5" name=""/>
          <p:cNvSpPr txBox="1"/>
          <p:nvPr/>
        </p:nvSpPr>
        <p:spPr>
          <a:xfrm>
            <a:off x="723900" y="277177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6"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Pure chocolade (minstens 50% cacao)]]></a:t>
            </a:r>
          </a:p>
        </p:txBody>
      </p:sp>
      <p:sp>
        <p:nvSpPr>
          <p:cNvPr id="17"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00 gram]]></a:t>
            </a:r>
          </a:p>
        </p:txBody>
      </p:sp>
      <p:cxnSp>
        <p:nvCxnSpPr>
          <p:cNvPr id="18"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9" name=""/>
          <p:cNvSpPr txBox="1"/>
          <p:nvPr/>
        </p:nvSpPr>
        <p:spPr>
          <a:xfrm>
            <a:off x="723900" y="301942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0"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Kristalsuiker]]></a:t>
            </a:r>
          </a:p>
        </p:txBody>
      </p:sp>
      <p:sp>
        <p:nvSpPr>
          <p:cNvPr id="21"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0 gram]]></a:t>
            </a:r>
          </a:p>
        </p:txBody>
      </p:sp>
      <p:cxnSp>
        <p:nvCxnSpPr>
          <p:cNvPr id="22"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3" name=""/>
          <p:cNvSpPr txBox="1"/>
          <p:nvPr/>
        </p:nvSpPr>
        <p:spPr>
          <a:xfrm>
            <a:off x="723900" y="327660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4" name=""/>
          <p:cNvSpPr txBox="1"/>
          <p:nvPr/>
        </p:nvSpPr>
        <p:spPr>
          <a:xfrm>
            <a:off x="790575" y="3314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Eieren]]></a:t>
            </a:r>
          </a:p>
        </p:txBody>
      </p:sp>
      <p:sp>
        <p:nvSpPr>
          <p:cNvPr id="25" name=""/>
          <p:cNvSpPr txBox="1"/>
          <p:nvPr/>
        </p:nvSpPr>
        <p:spPr>
          <a:xfrm>
            <a:off x="3886200" y="3314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 stuks]]></a:t>
            </a:r>
          </a:p>
        </p:txBody>
      </p:sp>
      <p:cxnSp>
        <p:nvCxnSpPr>
          <p:cNvPr id="26" name=""/>
          <p:cNvCxnSpPr/>
          <p:nvPr/>
        </p:nvCxnSpPr>
        <p:spPr>
          <a:xfrm>
            <a:off x="723900" y="352425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7" name=""/>
          <p:cNvSpPr txBox="1"/>
          <p:nvPr/>
        </p:nvSpPr>
        <p:spPr>
          <a:xfrm>
            <a:off x="723900" y="35242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8" name=""/>
          <p:cNvSpPr txBox="1"/>
          <p:nvPr/>
        </p:nvSpPr>
        <p:spPr>
          <a:xfrm>
            <a:off x="790575" y="35623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Vanille-extract]]></a:t>
            </a:r>
          </a:p>
        </p:txBody>
      </p:sp>
      <p:sp>
        <p:nvSpPr>
          <p:cNvPr id="29" name=""/>
          <p:cNvSpPr txBox="1"/>
          <p:nvPr/>
        </p:nvSpPr>
        <p:spPr>
          <a:xfrm>
            <a:off x="3886200" y="35623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 TL]]></a:t>
            </a:r>
          </a:p>
        </p:txBody>
      </p:sp>
      <p:cxnSp>
        <p:nvCxnSpPr>
          <p:cNvPr id="30" name=""/>
          <p:cNvCxnSpPr/>
          <p:nvPr/>
        </p:nvCxnSpPr>
        <p:spPr>
          <a:xfrm>
            <a:off x="723900" y="3781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1" name=""/>
          <p:cNvSpPr txBox="1"/>
          <p:nvPr/>
        </p:nvSpPr>
        <p:spPr>
          <a:xfrm>
            <a:off x="723900" y="3781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2" name=""/>
          <p:cNvSpPr txBox="1"/>
          <p:nvPr/>
        </p:nvSpPr>
        <p:spPr>
          <a:xfrm>
            <a:off x="790575" y="3819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loem]]></a:t>
            </a:r>
          </a:p>
        </p:txBody>
      </p:sp>
      <p:sp>
        <p:nvSpPr>
          <p:cNvPr id="33" name=""/>
          <p:cNvSpPr txBox="1"/>
          <p:nvPr/>
        </p:nvSpPr>
        <p:spPr>
          <a:xfrm>
            <a:off x="3886200" y="3819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75 gram]]></a:t>
            </a:r>
          </a:p>
        </p:txBody>
      </p:sp>
      <p:cxnSp>
        <p:nvCxnSpPr>
          <p:cNvPr id="34" name=""/>
          <p:cNvCxnSpPr/>
          <p:nvPr/>
        </p:nvCxnSpPr>
        <p:spPr>
          <a:xfrm>
            <a:off x="723900" y="40290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5" name=""/>
          <p:cNvSpPr txBox="1"/>
          <p:nvPr/>
        </p:nvSpPr>
        <p:spPr>
          <a:xfrm>
            <a:off x="723900" y="40290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6" name=""/>
          <p:cNvSpPr txBox="1"/>
          <p:nvPr/>
        </p:nvSpPr>
        <p:spPr>
          <a:xfrm>
            <a:off x="790575" y="40671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acaopoeder]]></a:t>
            </a:r>
          </a:p>
        </p:txBody>
      </p:sp>
      <p:sp>
        <p:nvSpPr>
          <p:cNvPr id="37" name=""/>
          <p:cNvSpPr txBox="1"/>
          <p:nvPr/>
        </p:nvSpPr>
        <p:spPr>
          <a:xfrm>
            <a:off x="3886200" y="40671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5 gram]]></a:t>
            </a:r>
          </a:p>
        </p:txBody>
      </p:sp>
      <p:cxnSp>
        <p:nvCxnSpPr>
          <p:cNvPr id="38" name=""/>
          <p:cNvCxnSpPr/>
          <p:nvPr/>
        </p:nvCxnSpPr>
        <p:spPr>
          <a:xfrm>
            <a:off x="723900" y="428625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9" name=""/>
          <p:cNvSpPr txBox="1"/>
          <p:nvPr/>
        </p:nvSpPr>
        <p:spPr>
          <a:xfrm>
            <a:off x="723900" y="428625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40" name=""/>
          <p:cNvSpPr txBox="1"/>
          <p:nvPr/>
        </p:nvSpPr>
        <p:spPr>
          <a:xfrm>
            <a:off x="790575" y="43243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Zout]]></a:t>
            </a:r>
          </a:p>
        </p:txBody>
      </p:sp>
      <p:sp>
        <p:nvSpPr>
          <p:cNvPr id="41" name=""/>
          <p:cNvSpPr txBox="1"/>
          <p:nvPr/>
        </p:nvSpPr>
        <p:spPr>
          <a:xfrm>
            <a:off x="3886200" y="43243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nufje]]></a:t>
            </a:r>
          </a:p>
        </p:txBody>
      </p:sp>
      <p:cxnSp>
        <p:nvCxnSpPr>
          <p:cNvPr id="42" name=""/>
          <p:cNvCxnSpPr/>
          <p:nvPr/>
        </p:nvCxnSpPr>
        <p:spPr>
          <a:xfrm>
            <a:off x="723900" y="45339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43" name=""/>
          <p:cNvSpPr txBox="1"/>
          <p:nvPr/>
        </p:nvSpPr>
        <p:spPr>
          <a:xfrm>
            <a:off x="723900" y="47529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Bereidingswijze]]></a:t>
            </a:r>
          </a:p>
        </p:txBody>
      </p:sp>
      <p:cxnSp>
        <p:nvCxnSpPr>
          <p:cNvPr id="44" name=""/>
          <p:cNvCxnSpPr/>
          <p:nvPr/>
        </p:nvCxnSpPr>
        <p:spPr>
          <a:xfrm>
            <a:off x="723900" y="50387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45" name=""/>
          <p:cNvSpPr txBox="1"/>
          <p:nvPr/>
        </p:nvSpPr>
        <p:spPr>
          <a:xfrm>
            <a:off x="723900" y="51816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Oven voorverwarmen: Verwarm de oven voor op 180 °C (heteluchtoven op 160 °C) en vet de bakvorm in of bekleed hem met bakpapier.]]></a:t>
            </a:r>
          </a:p>
        </p:txBody>
      </p:sp>
      <p:sp>
        <p:nvSpPr>
          <p:cNvPr id="46" name=""/>
          <p:cNvSpPr txBox="1"/>
          <p:nvPr/>
        </p:nvSpPr>
        <p:spPr>
          <a:xfrm>
            <a:off x="723900" y="54673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melten: Smelt de boter en de pure chocolade samen au-bain-marie of in de magnetron. Roer het mengsel glad en laat het een paar minuten afkoelen.]]></a:t>
            </a:r>
          </a:p>
        </p:txBody>
      </p:sp>
      <p:sp>
        <p:nvSpPr>
          <p:cNvPr id="47" name=""/>
          <p:cNvSpPr txBox="1"/>
          <p:nvPr/>
        </p:nvSpPr>
        <p:spPr>
          <a:xfrm>
            <a:off x="723900" y="57626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Mengen: Klop in een andere kom de suiker, eieren en het vanille-extract met een mixer of garde tot een licht en romig mengsel. Spatel hier rustig het afgekoelde chocolademengsel door.]]></a:t>
            </a:r>
          </a:p>
        </p:txBody>
      </p:sp>
      <p:sp>
        <p:nvSpPr>
          <p:cNvPr id="48" name=""/>
          <p:cNvSpPr txBox="1"/>
          <p:nvPr/>
        </p:nvSpPr>
        <p:spPr>
          <a:xfrm>
            <a:off x="723900" y="60483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Droge ingrediënten toevoegen: Zeef de bloem, het cacaopoeder en het zout boven het beslag. Spatel dit er kort door tot er geen witte bloem meer te zien is. Niet te lang mixen!]]></a:t>
            </a:r>
          </a:p>
        </p:txBody>
      </p:sp>
      <p:sp>
        <p:nvSpPr>
          <p:cNvPr id="49" name=""/>
          <p:cNvSpPr txBox="1"/>
          <p:nvPr/>
        </p:nvSpPr>
        <p:spPr>
          <a:xfrm>
            <a:off x="723900" y="63341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Bakken: Giet het beslag in de bakvorm en bak de brownies in ongeveer 35 tot 40 minuten gaar. De binnenkant mag nog een beetje fudgy en kleverig zij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Cozy banan nut cocoa]]></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yellow banana]]></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hocolademelk]]></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lagroom]]></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219075"/>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i="1" strike="noStrike" sz="1100" spc="0" u="none" cap="none">
                <a:solidFill>
                  <a:srgbClr val="6B7280">
                    <a:alpha val="100000"/>
                  </a:srgbClr>
                </a:solidFill>
                <a:latin typeface="Segoe UI"/>
              </a:rPr>
              <a:t><![CDATA[Proberen]]></a:t>
            </a:r>
          </a:p>
        </p:txBody>
      </p:sp>
      <p:sp>
        <p:nvSpPr>
          <p:cNvPr id="4" name=""/>
          <p:cNvSpPr txBox="1"/>
          <p:nvPr/>
        </p:nvSpPr>
        <p:spPr>
          <a:xfrm>
            <a:off x="723900" y="97155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Cran pear tea]]></a:t>
            </a:r>
          </a:p>
        </p:txBody>
      </p:sp>
      <p:cxnSp>
        <p:nvCxnSpPr>
          <p:cNvPr id="5" name=""/>
          <p:cNvCxnSpPr/>
          <p:nvPr/>
        </p:nvCxnSpPr>
        <p:spPr>
          <a:xfrm>
            <a:off x="723900" y="161925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6" name=""/>
          <p:cNvSpPr txBox="1"/>
          <p:nvPr/>
        </p:nvSpPr>
        <p:spPr>
          <a:xfrm>
            <a:off x="723900" y="18383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7" name=""/>
          <p:cNvCxnSpPr/>
          <p:nvPr/>
        </p:nvCxnSpPr>
        <p:spPr>
          <a:xfrm>
            <a:off x="723900" y="212407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8" name=""/>
          <p:cNvSpPr txBox="1"/>
          <p:nvPr/>
        </p:nvSpPr>
        <p:spPr>
          <a:xfrm>
            <a:off x="723900" y="226695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9"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10"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1" name=""/>
          <p:cNvSpPr txBox="1"/>
          <p:nvPr/>
        </p:nvSpPr>
        <p:spPr>
          <a:xfrm>
            <a:off x="723900" y="252412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2"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ear]]></a:t>
            </a:r>
          </a:p>
        </p:txBody>
      </p:sp>
      <p:sp>
        <p:nvSpPr>
          <p:cNvPr id="13"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ml]]></a:t>
            </a:r>
          </a:p>
        </p:txBody>
      </p:sp>
      <p:cxnSp>
        <p:nvCxnSpPr>
          <p:cNvPr id="14"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5" name=""/>
          <p:cNvSpPr txBox="1"/>
          <p:nvPr/>
        </p:nvSpPr>
        <p:spPr>
          <a:xfrm>
            <a:off x="723900" y="277177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6"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ranberry sap]]></a:t>
            </a:r>
          </a:p>
        </p:txBody>
      </p:sp>
      <p:sp>
        <p:nvSpPr>
          <p:cNvPr id="17"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ml]]></a:t>
            </a:r>
          </a:p>
        </p:txBody>
      </p:sp>
      <p:cxnSp>
        <p:nvCxnSpPr>
          <p:cNvPr id="18"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9" name=""/>
          <p:cNvSpPr txBox="1"/>
          <p:nvPr/>
        </p:nvSpPr>
        <p:spPr>
          <a:xfrm>
            <a:off x="723900" y="301942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0"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Zwarte thee]]></a:t>
            </a:r>
          </a:p>
        </p:txBody>
      </p:sp>
      <p:sp>
        <p:nvSpPr>
          <p:cNvPr id="21"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2"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Green apple lemonad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green apple]]></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itroensa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Water]]></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Jingle juic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green apple]]></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Ananassa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4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Granaatappel siroop]]></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5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982325"/>
          <a:chOff x="361950" y="361950"/>
          <a:chExt cx="7419975" cy="10982325"/>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d97706">
                    <a:alpha val="100000"/>
                  </a:srgbClr>
                </a:solidFill>
                <a:latin typeface="Segoe UI"/>
              </a:rPr>
              <a:t><![CDATA[Kaiserbroodjes]]></a:t>
            </a:r>
          </a:p>
        </p:txBody>
      </p:sp>
      <p:sp>
        <p:nvSpPr>
          <p:cNvPr id="4" name=""/>
          <p:cNvSpPr txBox="1"/>
          <p:nvPr/>
        </p:nvSpPr>
        <p:spPr>
          <a:xfrm>
            <a:off x="2809875" y="1371600"/>
            <a:ext cx="2162175" cy="247650"/>
          </a:xfrm>
          <a:prstGeom prst="rect">
            <a:avLst/>
          </a:prstGeom>
          <a:solidFill>
            <a:srgbClr val="EF3C7">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5" name=""/>
          <p:cNvSpPr txBox="1"/>
          <p:nvPr/>
        </p:nvSpPr>
        <p:spPr>
          <a:xfrm>
            <a:off x="2809875" y="1400175"/>
            <a:ext cx="2162175" cy="24765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900" spc="0" u="none" cap="none">
                <a:solidFill>
                  <a:srgbClr val="92400E">
                    <a:alpha val="100000"/>
                  </a:srgbClr>
                </a:solidFill>
                <a:latin typeface="Segoe UI"/>
              </a:rPr>
              <a:t><![CDATA[⏱ 2 uur]]></a:t>
            </a:r>
          </a:p>
        </p:txBody>
      </p:sp>
      <p:cxnSp>
        <p:nvCxnSpPr>
          <p:cNvPr id="6" name=""/>
          <p:cNvCxnSpPr/>
          <p:nvPr/>
        </p:nvCxnSpPr>
        <p:spPr>
          <a:xfrm>
            <a:off x="723900" y="1724025"/>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7" name=""/>
          <p:cNvSpPr txBox="1"/>
          <p:nvPr/>
        </p:nvSpPr>
        <p:spPr>
          <a:xfrm>
            <a:off x="723900" y="1943100"/>
            <a:ext cx="76200" cy="790575"/>
          </a:xfrm>
          <a:prstGeom prst="rect">
            <a:avLst/>
          </a:prstGeom>
          <a:solidFill>
            <a:srgbClr val="d97706">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1943100"/>
            <a:ext cx="6267450" cy="790575"/>
          </a:xfrm>
          <a:prstGeom prst="rect">
            <a:avLst/>
          </a:prstGeom>
          <a:solidFill>
            <a:srgbClr val="BEB">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9" name=""/>
          <p:cNvSpPr txBox="1"/>
          <p:nvPr/>
        </p:nvSpPr>
        <p:spPr>
          <a:xfrm>
            <a:off x="866775" y="2019300"/>
            <a:ext cx="6124575" cy="790575"/>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chattige kaiserbroodjes komen vaak voor in onze menu&#8217;s, omdat ze perfect zijn bij snacks en
om verschillende sandwiches van te maken. En wat is de goede kant van een kaiserbroodje?
Hier ben je vast al achtergekomen als je al eens een vers kaiserbroodje hebt belegd met je
favoriete Argeta, de nummer één vis- en vleesspread van Europa*.]]></a:t>
            </a:r>
          </a:p>
        </p:txBody>
      </p:sp>
      <p:sp>
        <p:nvSpPr>
          <p:cNvPr id="10" name=""/>
          <p:cNvSpPr txBox="1"/>
          <p:nvPr/>
        </p:nvSpPr>
        <p:spPr>
          <a:xfrm>
            <a:off x="723900" y="29527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11" name=""/>
          <p:cNvCxnSpPr/>
          <p:nvPr/>
        </p:nvCxnSpPr>
        <p:spPr>
          <a:xfrm>
            <a:off x="723900" y="3238500"/>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12" name=""/>
          <p:cNvSpPr txBox="1"/>
          <p:nvPr/>
        </p:nvSpPr>
        <p:spPr>
          <a:xfrm>
            <a:off x="723900" y="3381375"/>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3" name=""/>
          <p:cNvSpPr txBox="1"/>
          <p:nvPr/>
        </p:nvSpPr>
        <p:spPr>
          <a:xfrm>
            <a:off x="790575" y="34194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14" name=""/>
          <p:cNvSpPr txBox="1"/>
          <p:nvPr/>
        </p:nvSpPr>
        <p:spPr>
          <a:xfrm>
            <a:off x="3886200" y="34194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5" name=""/>
          <p:cNvSpPr txBox="1"/>
          <p:nvPr/>
        </p:nvSpPr>
        <p:spPr>
          <a:xfrm>
            <a:off x="723900" y="36385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6" name=""/>
          <p:cNvSpPr txBox="1"/>
          <p:nvPr/>
        </p:nvSpPr>
        <p:spPr>
          <a:xfrm>
            <a:off x="790575" y="36766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Wit tarwebloem]]></a:t>
            </a:r>
          </a:p>
        </p:txBody>
      </p:sp>
      <p:sp>
        <p:nvSpPr>
          <p:cNvPr id="17" name=""/>
          <p:cNvSpPr txBox="1"/>
          <p:nvPr/>
        </p:nvSpPr>
        <p:spPr>
          <a:xfrm>
            <a:off x="3886200" y="36766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400 gram]]></a:t>
            </a:r>
          </a:p>
        </p:txBody>
      </p:sp>
      <p:cxnSp>
        <p:nvCxnSpPr>
          <p:cNvPr id="18" name=""/>
          <p:cNvCxnSpPr/>
          <p:nvPr/>
        </p:nvCxnSpPr>
        <p:spPr>
          <a:xfrm>
            <a:off x="723900" y="38862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9" name=""/>
          <p:cNvSpPr txBox="1"/>
          <p:nvPr/>
        </p:nvSpPr>
        <p:spPr>
          <a:xfrm>
            <a:off x="723900" y="388620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0" name=""/>
          <p:cNvSpPr txBox="1"/>
          <p:nvPr/>
        </p:nvSpPr>
        <p:spPr>
          <a:xfrm>
            <a:off x="790575" y="39243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Grode gist]]></a:t>
            </a:r>
          </a:p>
        </p:txBody>
      </p:sp>
      <p:sp>
        <p:nvSpPr>
          <p:cNvPr id="21" name=""/>
          <p:cNvSpPr txBox="1"/>
          <p:nvPr/>
        </p:nvSpPr>
        <p:spPr>
          <a:xfrm>
            <a:off x="3886200" y="39243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 Zakje]]></a:t>
            </a:r>
          </a:p>
        </p:txBody>
      </p:sp>
      <p:cxnSp>
        <p:nvCxnSpPr>
          <p:cNvPr id="22" name=""/>
          <p:cNvCxnSpPr/>
          <p:nvPr/>
        </p:nvCxnSpPr>
        <p:spPr>
          <a:xfrm>
            <a:off x="723900" y="41433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3" name=""/>
          <p:cNvSpPr txBox="1"/>
          <p:nvPr/>
        </p:nvSpPr>
        <p:spPr>
          <a:xfrm>
            <a:off x="723900" y="41433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4" name=""/>
          <p:cNvSpPr txBox="1"/>
          <p:nvPr/>
        </p:nvSpPr>
        <p:spPr>
          <a:xfrm>
            <a:off x="790575" y="4171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Warm water]]></a:t>
            </a:r>
          </a:p>
        </p:txBody>
      </p:sp>
      <p:sp>
        <p:nvSpPr>
          <p:cNvPr id="25" name=""/>
          <p:cNvSpPr txBox="1"/>
          <p:nvPr/>
        </p:nvSpPr>
        <p:spPr>
          <a:xfrm>
            <a:off x="3886200" y="4171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6" name=""/>
          <p:cNvCxnSpPr/>
          <p:nvPr/>
        </p:nvCxnSpPr>
        <p:spPr>
          <a:xfrm>
            <a:off x="723900" y="43910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7" name=""/>
          <p:cNvSpPr txBox="1"/>
          <p:nvPr/>
        </p:nvSpPr>
        <p:spPr>
          <a:xfrm>
            <a:off x="723900" y="43910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8" name=""/>
          <p:cNvSpPr txBox="1"/>
          <p:nvPr/>
        </p:nvSpPr>
        <p:spPr>
          <a:xfrm>
            <a:off x="790575" y="44291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Honing]]></a:t>
            </a:r>
          </a:p>
        </p:txBody>
      </p:sp>
      <p:sp>
        <p:nvSpPr>
          <p:cNvPr id="29" name=""/>
          <p:cNvSpPr txBox="1"/>
          <p:nvPr/>
        </p:nvSpPr>
        <p:spPr>
          <a:xfrm>
            <a:off x="3886200" y="44291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gram]]></a:t>
            </a:r>
          </a:p>
        </p:txBody>
      </p:sp>
      <p:cxnSp>
        <p:nvCxnSpPr>
          <p:cNvPr id="30" name=""/>
          <p:cNvCxnSpPr/>
          <p:nvPr/>
        </p:nvCxnSpPr>
        <p:spPr>
          <a:xfrm>
            <a:off x="723900" y="46482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1" name=""/>
          <p:cNvSpPr txBox="1"/>
          <p:nvPr/>
        </p:nvSpPr>
        <p:spPr>
          <a:xfrm>
            <a:off x="723900" y="464820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2" name=""/>
          <p:cNvSpPr txBox="1"/>
          <p:nvPr/>
        </p:nvSpPr>
        <p:spPr>
          <a:xfrm>
            <a:off x="790575" y="4676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Olie]]></a:t>
            </a:r>
          </a:p>
        </p:txBody>
      </p:sp>
      <p:sp>
        <p:nvSpPr>
          <p:cNvPr id="33" name=""/>
          <p:cNvSpPr txBox="1"/>
          <p:nvPr/>
        </p:nvSpPr>
        <p:spPr>
          <a:xfrm>
            <a:off x="3886200" y="4676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 EL]]></a:t>
            </a:r>
          </a:p>
        </p:txBody>
      </p:sp>
      <p:cxnSp>
        <p:nvCxnSpPr>
          <p:cNvPr id="34" name=""/>
          <p:cNvCxnSpPr/>
          <p:nvPr/>
        </p:nvCxnSpPr>
        <p:spPr>
          <a:xfrm>
            <a:off x="723900" y="489585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5" name=""/>
          <p:cNvSpPr txBox="1"/>
          <p:nvPr/>
        </p:nvSpPr>
        <p:spPr>
          <a:xfrm>
            <a:off x="723900" y="489585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6" name=""/>
          <p:cNvSpPr txBox="1"/>
          <p:nvPr/>
        </p:nvSpPr>
        <p:spPr>
          <a:xfrm>
            <a:off x="790575" y="4933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Zout]]></a:t>
            </a:r>
          </a:p>
        </p:txBody>
      </p:sp>
      <p:sp>
        <p:nvSpPr>
          <p:cNvPr id="37" name=""/>
          <p:cNvSpPr txBox="1"/>
          <p:nvPr/>
        </p:nvSpPr>
        <p:spPr>
          <a:xfrm>
            <a:off x="3886200" y="4933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8 gram]]></a:t>
            </a:r>
          </a:p>
        </p:txBody>
      </p:sp>
      <p:cxnSp>
        <p:nvCxnSpPr>
          <p:cNvPr id="38" name=""/>
          <p:cNvCxnSpPr/>
          <p:nvPr/>
        </p:nvCxnSpPr>
        <p:spPr>
          <a:xfrm>
            <a:off x="723900" y="51435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9" name=""/>
          <p:cNvSpPr txBox="1"/>
          <p:nvPr/>
        </p:nvSpPr>
        <p:spPr>
          <a:xfrm>
            <a:off x="723900" y="53625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Bereidingswijze]]></a:t>
            </a:r>
          </a:p>
        </p:txBody>
      </p:sp>
      <p:cxnSp>
        <p:nvCxnSpPr>
          <p:cNvPr id="40" name=""/>
          <p:cNvCxnSpPr/>
          <p:nvPr/>
        </p:nvCxnSpPr>
        <p:spPr>
          <a:xfrm>
            <a:off x="723900" y="56483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41" name=""/>
          <p:cNvSpPr txBox="1"/>
          <p:nvPr/>
        </p:nvSpPr>
        <p:spPr>
          <a:xfrm>
            <a:off x="723900" y="58007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1. Het Deeg Bereiden &amp; Rijzen]]></a:t>
            </a:r>
          </a:p>
        </p:txBody>
      </p:sp>
      <p:sp>
        <p:nvSpPr>
          <p:cNvPr id="42" name=""/>
          <p:cNvSpPr txBox="1"/>
          <p:nvPr/>
        </p:nvSpPr>
        <p:spPr>
          <a:xfrm>
            <a:off x="723900" y="60864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Meng de bloem, de droge gist en het zout in een grote kom.]]></a:t>
            </a:r>
          </a:p>
        </p:txBody>
      </p:sp>
      <p:sp>
        <p:nvSpPr>
          <p:cNvPr id="43" name=""/>
          <p:cNvSpPr txBox="1"/>
          <p:nvPr/>
        </p:nvSpPr>
        <p:spPr>
          <a:xfrm>
            <a:off x="723900" y="63722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Maak een kuiltje in het midden van het mengsel, roer de honing erdoor en giet het warme water erin.]]></a:t>
            </a:r>
          </a:p>
        </p:txBody>
      </p:sp>
      <p:sp>
        <p:nvSpPr>
          <p:cNvPr id="44" name=""/>
          <p:cNvSpPr txBox="1"/>
          <p:nvPr/>
        </p:nvSpPr>
        <p:spPr>
          <a:xfrm>
            <a:off x="723900" y="66579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Meng dit en kneed dit tot een zacht, soepel deeg.]]></a:t>
            </a:r>
          </a:p>
        </p:txBody>
      </p:sp>
      <p:sp>
        <p:nvSpPr>
          <p:cNvPr id="45" name=""/>
          <p:cNvSpPr txBox="1"/>
          <p:nvPr/>
        </p:nvSpPr>
        <p:spPr>
          <a:xfrm>
            <a:off x="723900" y="69437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Kneed ongeveer 7-10 minuten met een keukenmachine tot het deeg mooi elastisch is.]]></a:t>
            </a:r>
          </a:p>
        </p:txBody>
      </p:sp>
      <p:sp>
        <p:nvSpPr>
          <p:cNvPr id="46" name=""/>
          <p:cNvSpPr txBox="1"/>
          <p:nvPr/>
        </p:nvSpPr>
        <p:spPr>
          <a:xfrm>
            <a:off x="723900" y="72390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Dek de kom vervolgens af met een vochtige doek of een douchemuts.]]></a:t>
            </a:r>
          </a:p>
        </p:txBody>
      </p:sp>
      <p:sp>
        <p:nvSpPr>
          <p:cNvPr id="47" name=""/>
          <p:cNvSpPr txBox="1"/>
          <p:nvPr/>
        </p:nvSpPr>
        <p:spPr>
          <a:xfrm>
            <a:off x="723900" y="75247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Zet de kom ongeveer 1 uur op]]></a:t>
            </a:r>
          </a:p>
        </p:txBody>
      </p:sp>
      <p:sp>
        <p:nvSpPr>
          <p:cNvPr id="48" name=""/>
          <p:cNvSpPr txBox="1"/>
          <p:nvPr/>
        </p:nvSpPr>
        <p:spPr>
          <a:xfrm>
            <a:off x="723900" y="78105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een warme plek zodat het deeg kan rijzen en in grootte kan verdubbelen.]]></a:t>
            </a:r>
          </a:p>
        </p:txBody>
      </p:sp>
      <p:sp>
        <p:nvSpPr>
          <p:cNvPr id="49" name=""/>
          <p:cNvSpPr txBox="1"/>
          <p:nvPr/>
        </p:nvSpPr>
        <p:spPr>
          <a:xfrm>
            <a:off x="723900" y="80962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2. Vorm Geven &amp; Bakken]]></a:t>
            </a:r>
          </a:p>
        </p:txBody>
      </p:sp>
      <p:sp>
        <p:nvSpPr>
          <p:cNvPr id="50" name=""/>
          <p:cNvSpPr txBox="1"/>
          <p:nvPr/>
        </p:nvSpPr>
        <p:spPr>
          <a:xfrm>
            <a:off x="723900" y="83915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Trek een stukje van ongeveer 80 g van het deeg en maak er met je handen een mooi, egaal]]></a:t>
            </a:r>
          </a:p>
        </p:txBody>
      </p:sp>
      <p:sp>
        <p:nvSpPr>
          <p:cNvPr id="51" name=""/>
          <p:cNvSpPr txBox="1"/>
          <p:nvPr/>
        </p:nvSpPr>
        <p:spPr>
          <a:xfrm>
            <a:off x="723900" y="86772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balletje van.]]></a:t>
            </a:r>
          </a:p>
        </p:txBody>
      </p:sp>
      <p:sp>
        <p:nvSpPr>
          <p:cNvPr id="52" name=""/>
          <p:cNvSpPr txBox="1"/>
          <p:nvPr/>
        </p:nvSpPr>
        <p:spPr>
          <a:xfrm>
            <a:off x="723900" y="89630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Pak het deeg aan één kant vast en druk voorzichtig op de bovenkant van het balletje om het]]></a:t>
            </a:r>
          </a:p>
        </p:txBody>
      </p:sp>
      <p:sp>
        <p:nvSpPr>
          <p:cNvPr id="53" name=""/>
          <p:cNvSpPr txBox="1"/>
          <p:nvPr/>
        </p:nvSpPr>
        <p:spPr>
          <a:xfrm>
            <a:off x="723900" y="92487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licht af te platten.]]></a:t>
            </a:r>
          </a:p>
        </p:txBody>
      </p:sp>
      <p:sp>
        <p:nvSpPr>
          <p:cNvPr id="54" name=""/>
          <p:cNvSpPr txBox="1"/>
          <p:nvPr/>
        </p:nvSpPr>
        <p:spPr>
          <a:xfrm>
            <a:off x="723900" y="95440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Verwarm de oven voor op 200°C.]]></a:t>
            </a:r>
          </a:p>
        </p:txBody>
      </p:sp>
      <p:sp>
        <p:nvSpPr>
          <p:cNvPr id="55" name=""/>
          <p:cNvSpPr txBox="1"/>
          <p:nvPr/>
        </p:nvSpPr>
        <p:spPr>
          <a:xfrm>
            <a:off x="723900" y="98298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Druk met een speciale stempel voor kaiserbroodjes in elk balletje om de bekende, klassieke]]></a:t>
            </a:r>
          </a:p>
        </p:txBody>
      </p:sp>
      <p:sp>
        <p:nvSpPr>
          <p:cNvPr id="56" name=""/>
          <p:cNvSpPr txBox="1"/>
          <p:nvPr/>
        </p:nvSpPr>
        <p:spPr>
          <a:xfrm>
            <a:off x="723900" y="101155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windmolenvorm te krijgen.]]></a:t>
            </a:r>
          </a:p>
        </p:txBody>
      </p:sp>
      <p:sp>
        <p:nvSpPr>
          <p:cNvPr id="57" name=""/>
          <p:cNvSpPr txBox="1"/>
          <p:nvPr/>
        </p:nvSpPr>
        <p:spPr>
          <a:xfrm>
            <a:off x="723900" y="104013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Leg de gevormde kaiserbroodjes op een met bakpapier beklede bakplaat.]]></a:t>
            </a:r>
          </a:p>
        </p:txBody>
      </p:sp>
      <p:sp>
        <p:nvSpPr>
          <p:cNvPr id="58" name=""/>
          <p:cNvSpPr txBox="1"/>
          <p:nvPr/>
        </p:nvSpPr>
        <p:spPr>
          <a:xfrm>
            <a:off x="723900" y="106965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chuif de bakplaat in de oven en bak de broodjes gedurende 15-20 minuten goudbruin en ga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3144500"/>
          <a:chOff x="361950" y="361950"/>
          <a:chExt cx="7419975" cy="131445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219075"/>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i="1" strike="noStrike" sz="1100" spc="0" u="none" cap="none">
                <a:solidFill>
                  <a:srgbClr val="6B7280">
                    <a:alpha val="100000"/>
                  </a:srgbClr>
                </a:solidFill>
                <a:latin typeface="Segoe UI"/>
              </a:rPr>
              <a:t><![CDATA[Al gemaakt]]></a:t>
            </a:r>
          </a:p>
        </p:txBody>
      </p:sp>
      <p:sp>
        <p:nvSpPr>
          <p:cNvPr id="4" name=""/>
          <p:cNvSpPr txBox="1"/>
          <p:nvPr/>
        </p:nvSpPr>
        <p:spPr>
          <a:xfrm>
            <a:off x="723900" y="97155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d97706">
                    <a:alpha val="100000"/>
                  </a:srgbClr>
                </a:solidFill>
                <a:latin typeface="Segoe UI"/>
              </a:rPr>
              <a:t><![CDATA[Krokant Rozijnen Kleinbrood]]></a:t>
            </a:r>
          </a:p>
        </p:txBody>
      </p:sp>
      <p:sp>
        <p:nvSpPr>
          <p:cNvPr id="5" name=""/>
          <p:cNvSpPr txBox="1"/>
          <p:nvPr/>
        </p:nvSpPr>
        <p:spPr>
          <a:xfrm>
            <a:off x="2809875" y="1619250"/>
            <a:ext cx="2162175" cy="247650"/>
          </a:xfrm>
          <a:prstGeom prst="rect">
            <a:avLst/>
          </a:prstGeom>
          <a:solidFill>
            <a:srgbClr val="EF3C7">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6" name=""/>
          <p:cNvSpPr txBox="1"/>
          <p:nvPr/>
        </p:nvSpPr>
        <p:spPr>
          <a:xfrm>
            <a:off x="2809875" y="1657350"/>
            <a:ext cx="2162175" cy="24765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900" spc="0" u="none" cap="none">
                <a:solidFill>
                  <a:srgbClr val="92400E">
                    <a:alpha val="100000"/>
                  </a:srgbClr>
                </a:solidFill>
                <a:latin typeface="Segoe UI"/>
              </a:rPr>
              <a:t><![CDATA[⏱ 3 uur]]></a:t>
            </a:r>
          </a:p>
        </p:txBody>
      </p:sp>
      <p:cxnSp>
        <p:nvCxnSpPr>
          <p:cNvPr id="7" name=""/>
          <p:cNvCxnSpPr/>
          <p:nvPr/>
        </p:nvCxnSpPr>
        <p:spPr>
          <a:xfrm>
            <a:off x="723900" y="19812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8" name=""/>
          <p:cNvSpPr txBox="1"/>
          <p:nvPr/>
        </p:nvSpPr>
        <p:spPr>
          <a:xfrm>
            <a:off x="723900" y="2200275"/>
            <a:ext cx="76200" cy="790575"/>
          </a:xfrm>
          <a:prstGeom prst="rect">
            <a:avLst/>
          </a:prstGeom>
          <a:solidFill>
            <a:srgbClr val="d97706">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9" name=""/>
          <p:cNvSpPr txBox="1"/>
          <p:nvPr/>
        </p:nvSpPr>
        <p:spPr>
          <a:xfrm>
            <a:off x="790575" y="2200275"/>
            <a:ext cx="6267450" cy="790575"/>
          </a:xfrm>
          <a:prstGeom prst="rect">
            <a:avLst/>
          </a:prstGeom>
          <a:solidFill>
            <a:srgbClr val="BEB">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0" name=""/>
          <p:cNvSpPr txBox="1"/>
          <p:nvPr/>
        </p:nvSpPr>
        <p:spPr>
          <a:xfrm>
            <a:off x="866775" y="2266950"/>
            <a:ext cx="6124575" cy="790575"/>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aktijd 15-20 minuten
Aantal 6 stuks
Maken: 30 minuten + 2 uur rijzen]]></a:t>
            </a:r>
          </a:p>
        </p:txBody>
      </p:sp>
      <p:sp>
        <p:nvSpPr>
          <p:cNvPr id="11" name=""/>
          <p:cNvSpPr txBox="1"/>
          <p:nvPr/>
        </p:nvSpPr>
        <p:spPr>
          <a:xfrm>
            <a:off x="723900" y="32004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12" name=""/>
          <p:cNvCxnSpPr/>
          <p:nvPr/>
        </p:nvCxnSpPr>
        <p:spPr>
          <a:xfrm>
            <a:off x="723900" y="349567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13" name=""/>
          <p:cNvSpPr txBox="1"/>
          <p:nvPr/>
        </p:nvSpPr>
        <p:spPr>
          <a:xfrm>
            <a:off x="723900" y="363855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4" name=""/>
          <p:cNvSpPr txBox="1"/>
          <p:nvPr/>
        </p:nvSpPr>
        <p:spPr>
          <a:xfrm>
            <a:off x="790575" y="36766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15" name=""/>
          <p:cNvSpPr txBox="1"/>
          <p:nvPr/>
        </p:nvSpPr>
        <p:spPr>
          <a:xfrm>
            <a:off x="3886200" y="36766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6" name=""/>
          <p:cNvSpPr txBox="1"/>
          <p:nvPr/>
        </p:nvSpPr>
        <p:spPr>
          <a:xfrm>
            <a:off x="723900" y="388620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7" name=""/>
          <p:cNvSpPr txBox="1"/>
          <p:nvPr/>
        </p:nvSpPr>
        <p:spPr>
          <a:xfrm>
            <a:off x="790575" y="39243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Harde bloem (patentbloem of speciale broodbloem)]]></a:t>
            </a:r>
          </a:p>
        </p:txBody>
      </p:sp>
      <p:sp>
        <p:nvSpPr>
          <p:cNvPr id="18" name=""/>
          <p:cNvSpPr txBox="1"/>
          <p:nvPr/>
        </p:nvSpPr>
        <p:spPr>
          <a:xfrm>
            <a:off x="3886200" y="39243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400 gram]]></a:t>
            </a:r>
          </a:p>
        </p:txBody>
      </p:sp>
      <p:cxnSp>
        <p:nvCxnSpPr>
          <p:cNvPr id="19" name=""/>
          <p:cNvCxnSpPr/>
          <p:nvPr/>
        </p:nvCxnSpPr>
        <p:spPr>
          <a:xfrm>
            <a:off x="723900" y="41433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0" name=""/>
          <p:cNvSpPr txBox="1"/>
          <p:nvPr/>
        </p:nvSpPr>
        <p:spPr>
          <a:xfrm>
            <a:off x="723900" y="414337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1" name=""/>
          <p:cNvSpPr txBox="1"/>
          <p:nvPr/>
        </p:nvSpPr>
        <p:spPr>
          <a:xfrm>
            <a:off x="790575" y="4171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droge gist (1 zakje)]]></a:t>
            </a:r>
          </a:p>
        </p:txBody>
      </p:sp>
      <p:sp>
        <p:nvSpPr>
          <p:cNvPr id="22" name=""/>
          <p:cNvSpPr txBox="1"/>
          <p:nvPr/>
        </p:nvSpPr>
        <p:spPr>
          <a:xfrm>
            <a:off x="3886200" y="4171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7 gram]]></a:t>
            </a:r>
          </a:p>
        </p:txBody>
      </p:sp>
      <p:cxnSp>
        <p:nvCxnSpPr>
          <p:cNvPr id="23" name=""/>
          <p:cNvCxnSpPr/>
          <p:nvPr/>
        </p:nvCxnSpPr>
        <p:spPr>
          <a:xfrm>
            <a:off x="723900" y="43910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4" name=""/>
          <p:cNvSpPr txBox="1"/>
          <p:nvPr/>
        </p:nvSpPr>
        <p:spPr>
          <a:xfrm>
            <a:off x="723900" y="439102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5" name=""/>
          <p:cNvSpPr txBox="1"/>
          <p:nvPr/>
        </p:nvSpPr>
        <p:spPr>
          <a:xfrm>
            <a:off x="790575" y="44291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Lauw water]]></a:t>
            </a:r>
          </a:p>
        </p:txBody>
      </p:sp>
      <p:sp>
        <p:nvSpPr>
          <p:cNvPr id="26" name=""/>
          <p:cNvSpPr txBox="1"/>
          <p:nvPr/>
        </p:nvSpPr>
        <p:spPr>
          <a:xfrm>
            <a:off x="3886200" y="44291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7" name=""/>
          <p:cNvCxnSpPr/>
          <p:nvPr/>
        </p:nvCxnSpPr>
        <p:spPr>
          <a:xfrm>
            <a:off x="723900" y="46482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8" name=""/>
          <p:cNvSpPr txBox="1"/>
          <p:nvPr/>
        </p:nvSpPr>
        <p:spPr>
          <a:xfrm>
            <a:off x="723900" y="464820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9" name=""/>
          <p:cNvSpPr txBox="1"/>
          <p:nvPr/>
        </p:nvSpPr>
        <p:spPr>
          <a:xfrm>
            <a:off x="790575" y="4676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Harde roomboter (koud, in kleine blokjes)]]></a:t>
            </a:r>
          </a:p>
        </p:txBody>
      </p:sp>
      <p:sp>
        <p:nvSpPr>
          <p:cNvPr id="30" name=""/>
          <p:cNvSpPr txBox="1"/>
          <p:nvPr/>
        </p:nvSpPr>
        <p:spPr>
          <a:xfrm>
            <a:off x="3886200" y="4676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gram]]></a:t>
            </a:r>
          </a:p>
        </p:txBody>
      </p:sp>
      <p:cxnSp>
        <p:nvCxnSpPr>
          <p:cNvPr id="31" name=""/>
          <p:cNvCxnSpPr/>
          <p:nvPr/>
        </p:nvCxnSpPr>
        <p:spPr>
          <a:xfrm>
            <a:off x="723900" y="489585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2" name=""/>
          <p:cNvSpPr txBox="1"/>
          <p:nvPr/>
        </p:nvSpPr>
        <p:spPr>
          <a:xfrm>
            <a:off x="723900" y="48958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3" name=""/>
          <p:cNvSpPr txBox="1"/>
          <p:nvPr/>
        </p:nvSpPr>
        <p:spPr>
          <a:xfrm>
            <a:off x="790575" y="4933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uiker]]></a:t>
            </a:r>
          </a:p>
        </p:txBody>
      </p:sp>
      <p:sp>
        <p:nvSpPr>
          <p:cNvPr id="34" name=""/>
          <p:cNvSpPr txBox="1"/>
          <p:nvPr/>
        </p:nvSpPr>
        <p:spPr>
          <a:xfrm>
            <a:off x="3886200" y="49339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0 gram]]></a:t>
            </a:r>
          </a:p>
        </p:txBody>
      </p:sp>
      <p:cxnSp>
        <p:nvCxnSpPr>
          <p:cNvPr id="35" name=""/>
          <p:cNvCxnSpPr/>
          <p:nvPr/>
        </p:nvCxnSpPr>
        <p:spPr>
          <a:xfrm>
            <a:off x="723900" y="5143500"/>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36" name=""/>
          <p:cNvSpPr txBox="1"/>
          <p:nvPr/>
        </p:nvSpPr>
        <p:spPr>
          <a:xfrm>
            <a:off x="723900" y="5143500"/>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7" name=""/>
          <p:cNvSpPr txBox="1"/>
          <p:nvPr/>
        </p:nvSpPr>
        <p:spPr>
          <a:xfrm>
            <a:off x="790575" y="51816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Zout]]></a:t>
            </a:r>
          </a:p>
        </p:txBody>
      </p:sp>
      <p:sp>
        <p:nvSpPr>
          <p:cNvPr id="38" name=""/>
          <p:cNvSpPr txBox="1"/>
          <p:nvPr/>
        </p:nvSpPr>
        <p:spPr>
          <a:xfrm>
            <a:off x="3886200" y="51816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8 gram]]></a:t>
            </a:r>
          </a:p>
        </p:txBody>
      </p:sp>
      <p:cxnSp>
        <p:nvCxnSpPr>
          <p:cNvPr id="39" name=""/>
          <p:cNvCxnSpPr/>
          <p:nvPr/>
        </p:nvCxnSpPr>
        <p:spPr>
          <a:xfrm>
            <a:off x="723900" y="54006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40" name=""/>
          <p:cNvSpPr txBox="1"/>
          <p:nvPr/>
        </p:nvSpPr>
        <p:spPr>
          <a:xfrm>
            <a:off x="723900" y="54006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41" name=""/>
          <p:cNvSpPr txBox="1"/>
          <p:nvPr/>
        </p:nvSpPr>
        <p:spPr>
          <a:xfrm>
            <a:off x="790575" y="5438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Rozijnen]]></a:t>
            </a:r>
          </a:p>
        </p:txBody>
      </p:sp>
      <p:sp>
        <p:nvSpPr>
          <p:cNvPr id="42" name=""/>
          <p:cNvSpPr txBox="1"/>
          <p:nvPr/>
        </p:nvSpPr>
        <p:spPr>
          <a:xfrm>
            <a:off x="3886200" y="54387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0 gram]]></a:t>
            </a:r>
          </a:p>
        </p:txBody>
      </p:sp>
      <p:cxnSp>
        <p:nvCxnSpPr>
          <p:cNvPr id="43" name=""/>
          <p:cNvCxnSpPr/>
          <p:nvPr/>
        </p:nvCxnSpPr>
        <p:spPr>
          <a:xfrm>
            <a:off x="723900" y="56483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44" name=""/>
          <p:cNvSpPr txBox="1"/>
          <p:nvPr/>
        </p:nvSpPr>
        <p:spPr>
          <a:xfrm>
            <a:off x="723900" y="58674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Bereidingswijze]]></a:t>
            </a:r>
          </a:p>
        </p:txBody>
      </p:sp>
      <p:cxnSp>
        <p:nvCxnSpPr>
          <p:cNvPr id="45" name=""/>
          <p:cNvCxnSpPr/>
          <p:nvPr/>
        </p:nvCxnSpPr>
        <p:spPr>
          <a:xfrm>
            <a:off x="723900" y="6153150"/>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46" name=""/>
          <p:cNvSpPr txBox="1"/>
          <p:nvPr/>
        </p:nvSpPr>
        <p:spPr>
          <a:xfrm>
            <a:off x="723900" y="62960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1. Rozijnen wellen en drogen]]></a:t>
            </a:r>
          </a:p>
        </p:txBody>
      </p:sp>
      <p:sp>
        <p:nvSpPr>
          <p:cNvPr id="47" name=""/>
          <p:cNvSpPr txBox="1"/>
          <p:nvPr/>
        </p:nvSpPr>
        <p:spPr>
          <a:xfrm>
            <a:off x="723900" y="65913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Wel de rozijnen 15 minuten in lauw water. Giet ze af en dep ze superdroog in een theedoek. Als er te veel vocht aan de rozijnen blijft zitten, stomen de broodjes vanbinnen zacht in plaats van dat ze een krokante korst krijgen.]]></a:t>
            </a:r>
          </a:p>
        </p:txBody>
      </p:sp>
      <p:sp>
        <p:nvSpPr>
          <p:cNvPr id="48" name=""/>
          <p:cNvSpPr txBox="1"/>
          <p:nvPr/>
        </p:nvSpPr>
        <p:spPr>
          <a:xfrm>
            <a:off x="723900" y="68770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2. Het deeg kneden]]></a:t>
            </a:r>
          </a:p>
        </p:txBody>
      </p:sp>
      <p:sp>
        <p:nvSpPr>
          <p:cNvPr id="49" name=""/>
          <p:cNvSpPr txBox="1"/>
          <p:nvPr/>
        </p:nvSpPr>
        <p:spPr>
          <a:xfrm>
            <a:off x="723900" y="71628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Meng de bloem, gist en suiker in een kom.]]></a:t>
            </a:r>
          </a:p>
        </p:txBody>
      </p:sp>
      <p:sp>
        <p:nvSpPr>
          <p:cNvPr id="50" name=""/>
          <p:cNvSpPr txBox="1"/>
          <p:nvPr/>
        </p:nvSpPr>
        <p:spPr>
          <a:xfrm>
            <a:off x="723900" y="74485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Voeg het lauwe water toe en begin te kneden.]]></a:t>
            </a:r>
          </a:p>
        </p:txBody>
      </p:sp>
      <p:sp>
        <p:nvSpPr>
          <p:cNvPr id="51" name=""/>
          <p:cNvSpPr txBox="1"/>
          <p:nvPr/>
        </p:nvSpPr>
        <p:spPr>
          <a:xfrm>
            <a:off x="723900" y="77438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Voeg na 2 minuten het zout en de blokjes koude boter toe. Kneed dit (het liefst met een machine) in 10 tot 12 minuten tot een stevig, elastisch en glad deeg.]]></a:t>
            </a:r>
          </a:p>
        </p:txBody>
      </p:sp>
      <p:sp>
        <p:nvSpPr>
          <p:cNvPr id="52" name=""/>
          <p:cNvSpPr txBox="1"/>
          <p:nvPr/>
        </p:nvSpPr>
        <p:spPr>
          <a:xfrm>
            <a:off x="723900" y="80295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Druk het deeg plat, strooi de droge rozijnen erover en kneed ze er handmatig rustig doorheen tot ze goed verdeeld zijn.]]></a:t>
            </a:r>
          </a:p>
        </p:txBody>
      </p:sp>
      <p:sp>
        <p:nvSpPr>
          <p:cNvPr id="53" name=""/>
          <p:cNvSpPr txBox="1"/>
          <p:nvPr/>
        </p:nvSpPr>
        <p:spPr>
          <a:xfrm>
            <a:off x="723900" y="83153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3. Eerste rijs]]></a:t>
            </a:r>
          </a:p>
        </p:txBody>
      </p:sp>
      <p:sp>
        <p:nvSpPr>
          <p:cNvPr id="54" name=""/>
          <p:cNvSpPr txBox="1"/>
          <p:nvPr/>
        </p:nvSpPr>
        <p:spPr>
          <a:xfrm>
            <a:off x="723900" y="86010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Vorm een strakke bal van het deeg. Leg het in een licht ingevette kom, dek af met een vochtige theedoek en laat het 1 uur rijzen op een warme plek.]]></a:t>
            </a:r>
          </a:p>
        </p:txBody>
      </p:sp>
      <p:sp>
        <p:nvSpPr>
          <p:cNvPr id="55" name=""/>
          <p:cNvSpPr txBox="1"/>
          <p:nvPr/>
        </p:nvSpPr>
        <p:spPr>
          <a:xfrm>
            <a:off x="723900" y="88963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4. Vormen (Geef ze de ruimte!)]]></a:t>
            </a:r>
          </a:p>
        </p:txBody>
      </p:sp>
      <p:sp>
        <p:nvSpPr>
          <p:cNvPr id="56" name=""/>
          <p:cNvSpPr txBox="1"/>
          <p:nvPr/>
        </p:nvSpPr>
        <p:spPr>
          <a:xfrm>
            <a:off x="723900" y="91821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tort het deeg op je werkblad en verdeel het in 6 gelijke stukken (ca. 140 gram per stuk).]]></a:t>
            </a:r>
          </a:p>
        </p:txBody>
      </p:sp>
      <p:sp>
        <p:nvSpPr>
          <p:cNvPr id="57" name=""/>
          <p:cNvSpPr txBox="1"/>
          <p:nvPr/>
        </p:nvSpPr>
        <p:spPr>
          <a:xfrm>
            <a:off x="723900" y="94678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la de stukken deeg plat tot ovalen en rol ze strak op tot langwerpige modelletjes (de vorm van een dikke pistolet).]]></a:t>
            </a:r>
          </a:p>
        </p:txBody>
      </p:sp>
      <p:sp>
        <p:nvSpPr>
          <p:cNvPr id="58" name=""/>
          <p:cNvSpPr txBox="1"/>
          <p:nvPr/>
        </p:nvSpPr>
        <p:spPr>
          <a:xfrm>
            <a:off x="723900" y="97536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Leg de broodjes op een met bakpapier beklede bakplaat. Belangrijk: Leg ze deze keer niet tegen elkaar aan, maar zorg voor flink wat tussenruimte zodat de hete lucht er straks helemaal omheen kan stromen voor die rondom krokante korst.]]></a:t>
            </a:r>
          </a:p>
        </p:txBody>
      </p:sp>
      <p:sp>
        <p:nvSpPr>
          <p:cNvPr id="59" name=""/>
          <p:cNvSpPr txBox="1"/>
          <p:nvPr/>
        </p:nvSpPr>
        <p:spPr>
          <a:xfrm>
            <a:off x="723900" y="100393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5. Tweede rijs]]></a:t>
            </a:r>
          </a:p>
        </p:txBody>
      </p:sp>
      <p:sp>
        <p:nvSpPr>
          <p:cNvPr id="60" name=""/>
          <p:cNvSpPr txBox="1"/>
          <p:nvPr/>
        </p:nvSpPr>
        <p:spPr>
          <a:xfrm>
            <a:off x="723900" y="103346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Dek de broodjes losjes af en laat ze nog 45 tot 60 minuten rijzen tot ze mooi in volume zijn toegenomen.]]></a:t>
            </a:r>
          </a:p>
        </p:txBody>
      </p:sp>
      <p:sp>
        <p:nvSpPr>
          <p:cNvPr id="61" name=""/>
          <p:cNvSpPr txBox="1"/>
          <p:nvPr/>
        </p:nvSpPr>
        <p:spPr>
          <a:xfrm>
            <a:off x="723900" y="106203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6. Bakken met stoom (Hét geheim voor de harde korst)]]></a:t>
            </a:r>
          </a:p>
        </p:txBody>
      </p:sp>
      <p:sp>
        <p:nvSpPr>
          <p:cNvPr id="62" name=""/>
          <p:cNvSpPr txBox="1"/>
          <p:nvPr/>
        </p:nvSpPr>
        <p:spPr>
          <a:xfrm>
            <a:off x="723900" y="1090612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Verwarm de oven flink heet voor op 220 °C (conventioneel) of 200 °C (hetelucht). Zet de extra lege bakplaat of braadslede onderin de oven tijdens het voorverwarmen.]]></a:t>
            </a:r>
          </a:p>
        </p:txBody>
      </p:sp>
      <p:sp>
        <p:nvSpPr>
          <p:cNvPr id="63" name=""/>
          <p:cNvSpPr txBox="1"/>
          <p:nvPr/>
        </p:nvSpPr>
        <p:spPr>
          <a:xfrm>
            <a:off x="723900" y="11191875"/>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nijd de bovenkant van de gerezen broodjes vlak voor ze de oven in gaan in de lengte (of met 3 schuine sneetjes) in met een heel scherp mes. Bestrijk ze niet met ei of boter, maar spray ze licht in met een beetje water uit de plantenspuit.]]></a:t>
            </a:r>
          </a:p>
        </p:txBody>
      </p:sp>
      <p:sp>
        <p:nvSpPr>
          <p:cNvPr id="64" name=""/>
          <p:cNvSpPr txBox="1"/>
          <p:nvPr/>
        </p:nvSpPr>
        <p:spPr>
          <a:xfrm>
            <a:off x="723900" y="11487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Schuif de bakplaat met de broodjes in de oven. Giet direct daarna een half kopje koud water op de hete, lege bakplaat onderin de oven en sluit snel de ovendeur. Dit zorgt voor een enorme stoomwolk waardoor het brood prachtig rijst en die glanzende, harde korst krijgt.]]></a:t>
            </a:r>
          </a:p>
        </p:txBody>
      </p:sp>
      <p:sp>
        <p:nvSpPr>
          <p:cNvPr id="65" name=""/>
          <p:cNvSpPr txBox="1"/>
          <p:nvPr/>
        </p:nvSpPr>
        <p:spPr>
          <a:xfrm>
            <a:off x="723900" y="1177290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 Bak de broodjes in 15 tot 20 minuten diep goudbruin en krokant.]]></a:t>
            </a:r>
          </a:p>
        </p:txBody>
      </p:sp>
      <p:sp>
        <p:nvSpPr>
          <p:cNvPr id="66" name=""/>
          <p:cNvSpPr txBox="1"/>
          <p:nvPr/>
        </p:nvSpPr>
        <p:spPr>
          <a:xfrm>
            <a:off x="723900" y="12201525"/>
            <a:ext cx="6334125" cy="866775"/>
          </a:xfrm>
          <a:prstGeom prst="rect">
            <a:avLst/>
          </a:prstGeom>
          <a:solidFill>
            <a:srgbClr val="0FDF4">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cxnSp>
        <p:nvCxnSpPr>
          <p:cNvPr id="67" name=""/>
          <p:cNvCxnSpPr/>
          <p:nvPr/>
        </p:nvCxnSpPr>
        <p:spPr>
          <a:xfrm>
            <a:off x="723900" y="12201525"/>
            <a:ext cx="6334125" cy="0"/>
          </a:xfrm>
          <a:prstGeom prst="line">
            <a:avLst/>
          </a:prstGeom>
          <a:ln w="9525" cap="flat" cmpd="sng" algn="ctr">
            <a:solidFill>
              <a:srgbClr val="BBF7D0">
                <a:alpha val="100000"/>
              </a:srgbClr>
            </a:solidFill>
            <a:prstDash val="solid"/>
            <a:round/>
            <a:headEnd type="none" w="med" len="med"/>
            <a:tailEnd type="none" w="med" len="med"/>
          </a:ln>
        </p:spPr>
      </p:cxnSp>
      <p:cxnSp>
        <p:nvCxnSpPr>
          <p:cNvPr id="68" name=""/>
          <p:cNvCxnSpPr/>
          <p:nvPr/>
        </p:nvCxnSpPr>
        <p:spPr>
          <a:xfrm>
            <a:off x="723900" y="13068300"/>
            <a:ext cx="6334125" cy="0"/>
          </a:xfrm>
          <a:prstGeom prst="line">
            <a:avLst/>
          </a:prstGeom>
          <a:ln w="9525" cap="flat" cmpd="sng" algn="ctr">
            <a:solidFill>
              <a:srgbClr val="BBF7D0">
                <a:alpha val="100000"/>
              </a:srgbClr>
            </a:solidFill>
            <a:prstDash val="solid"/>
            <a:round/>
            <a:headEnd type="none" w="med" len="med"/>
            <a:tailEnd type="none" w="med" len="med"/>
          </a:ln>
        </p:spPr>
      </p:cxnSp>
      <p:sp>
        <p:nvSpPr>
          <p:cNvPr id="69" name=""/>
          <p:cNvSpPr txBox="1"/>
          <p:nvPr/>
        </p:nvSpPr>
        <p:spPr>
          <a:xfrm>
            <a:off x="790575" y="12277725"/>
            <a:ext cx="6191250" cy="866775"/>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p>
          <a:p>
            <a:pPr algn="l" rtl="0" fontAlgn="base" marL="0" marR="0" indent="0" lvl="0">
              <a:lnSpc>
                <a:spcPct val="100000"/>
              </a:lnSpc>
              <a:spcBef>
                <a:spcPts val="0"/>
              </a:spcBef>
              <a:spcAft>
                <a:spcPts val="0"/>
              </a:spcAft>
            </a:pPr>
            <a:r>
              <a:rPr lang="en-US" b="1" strike="noStrike" sz="1000" spc="0" u="none" cap="none">
                <a:solidFill>
                  <a:srgbClr val="166534">
                    <a:alpha val="100000"/>
                  </a:srgbClr>
                </a:solidFill>
                <a:latin typeface="Segoe UI"/>
              </a:rPr>
              <a:t><![CDATA[💡 Tip van de bakker:]]></a:t>
            </a:r>
          </a:p>
          <a:p>
            <a:pPr algn="l" rtl="0" fontAlgn="base" marL="0" marR="0" indent="0" lvl="0">
              <a:lnSpc>
                <a:spcPct val="100000"/>
              </a:lnSpc>
              <a:spcBef>
                <a:spcPts val="0"/>
              </a:spcBef>
              <a:spcAft>
                <a:spcPts val="0"/>
              </a:spcAft>
            </a:pPr>
            <a:r>
              <a:rPr lang="en-US" strike="noStrike" sz="1000" spc="0" u="none" cap="none">
                <a:solidFill>
                  <a:srgbClr val="1E293B">
                    <a:alpha val="100000"/>
                  </a:srgbClr>
                </a:solidFill>
                <a:latin typeface="Segoe UI"/>
              </a:rPr>
              <a:t><![CDATA[Laat ze na het bakken afkoelen op een rooster. Je hoort ze dan als het goed is zachtjes 'knisterend' afkoelen. Als je er nu op tikt, klinken ze hol en zijn ze heerlijk hard vanbuiten en gevuld met zoete rozijnen vanbinn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Lovers lemonad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trawberry siroop]]></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Mango passion fruit Iced Tea]]></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mango]]></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assionfruit]]></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Ice tea]]></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5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assion fruit lemonad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assionfruit]]></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IJsblokjes]]></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Lemonade]]></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4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assion fruit lemonad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trawberry siroop]]></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honey mango]]></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Thee]]></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5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eanut butter banana shake]]></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eanut butter]]></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Yellow banana]]></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Vanille ijs]]></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 bo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elk]]></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60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ear fizz cocktail]]></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ear]]></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Gin]]></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4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itroensap]]></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90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ear punch]]></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ear]]></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6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inaasappelsa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Ananassap]]></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Grenadine]]></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Pear tok water]]></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ear]]></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75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itroen partjes]]></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 stuks]]></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Strawberry lime palmer]]></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trawberry siroop]]></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lime]]></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Lemonade]]></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6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lack tea]]></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Teachers apple lemonade batch]]></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green apple]]></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raspberry]]></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5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The banana cup]]></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Yellow banana siroop]]></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Sinaasappelsa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itroensap]]></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Bruiswater]]></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20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p:bgPr>
    </p:bg>
    <p:spTree>
      <p:nvGrpSpPr>
        <p:cNvPr id="1" name=""/>
        <p:cNvGrpSpPr/>
        <p:nvPr/>
      </p:nvGrpSpPr>
      <p:grpSpPr>
        <a:xfrm>
          <a:off x="361950" y="361950"/>
          <a:ext cx="7419975" cy="10553700"/>
          <a:chOff x="361950" y="361950"/>
          <a:chExt cx="7419975" cy="10553700"/>
        </a:xfrm>
      </p:grpSpPr>
      <p:sp>
        <p:nvSpPr>
          <p:cNvPr id="2" name=""/>
          <p:cNvSpPr txBox="1"/>
          <p:nvPr/>
        </p:nvSpPr>
        <p:spPr>
          <a:xfrm>
            <a:off x="361950" y="361950"/>
            <a:ext cx="7058025" cy="10191750"/>
          </a:xfrm>
          <a:prstGeom prst="rect">
            <a:avLst/>
          </a:prstGeom>
          <a:solidFill>
            <a:srgbClr val="">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3" name=""/>
          <p:cNvSpPr txBox="1"/>
          <p:nvPr/>
        </p:nvSpPr>
        <p:spPr>
          <a:xfrm>
            <a:off x="723900" y="723900"/>
            <a:ext cx="6334125" cy="571500"/>
          </a:xfrm>
          <a:prstGeom prst="rect">
            <a:avLst/>
          </a:prstGeom>
          <a:noFill/>
        </p:spPr>
        <p:txBody>
          <a:bodyPr anchorCtr="0" rtlCol="0" vert="horz" bIns="45720" lIns="91440" rIns="91440" tIns="45720">
            <a:spAutoFit/>
          </a:bodyPr>
          <a:lstStyle/>
          <a:p>
            <a:pPr algn="ctr" rtl="0" fontAlgn="base" marL="0" marR="0" indent="0" lvl="0">
              <a:lnSpc>
                <a:spcPct val="100000"/>
              </a:lnSpc>
              <a:spcBef>
                <a:spcPts val="0"/>
              </a:spcBef>
              <a:spcAft>
                <a:spcPts val="0"/>
              </a:spcAft>
            </a:pPr>
            <a:r>
              <a:rPr lang="en-US" b="1" strike="noStrike" sz="2200" spc="0" u="none" cap="none">
                <a:solidFill>
                  <a:srgbClr val="e1ff00">
                    <a:alpha val="100000"/>
                  </a:srgbClr>
                </a:solidFill>
                <a:latin typeface="Segoe UI"/>
              </a:rPr>
              <a:t><![CDATA[Winter mint chill]]></a:t>
            </a:r>
          </a:p>
        </p:txBody>
      </p:sp>
      <p:cxnSp>
        <p:nvCxnSpPr>
          <p:cNvPr id="4" name=""/>
          <p:cNvCxnSpPr/>
          <p:nvPr/>
        </p:nvCxnSpPr>
        <p:spPr>
          <a:xfrm>
            <a:off x="723900" y="1371600"/>
            <a:ext cx="6334125" cy="0"/>
          </a:xfrm>
          <a:prstGeom prst="line">
            <a:avLst/>
          </a:prstGeom>
          <a:ln w="9525" cap="flat" cmpd="sng" algn="ctr">
            <a:solidFill>
              <a:srgbClr val="F3F4F6">
                <a:alpha val="100000"/>
              </a:srgbClr>
            </a:solidFill>
            <a:prstDash val="solid"/>
            <a:round/>
            <a:headEnd type="none" w="med" len="med"/>
            <a:tailEnd type="none" w="med" len="med"/>
          </a:ln>
        </p:spPr>
      </p:cxnSp>
      <p:sp>
        <p:nvSpPr>
          <p:cNvPr id="5" name=""/>
          <p:cNvSpPr txBox="1"/>
          <p:nvPr/>
        </p:nvSpPr>
        <p:spPr>
          <a:xfrm>
            <a:off x="723900" y="1581150"/>
            <a:ext cx="6334125" cy="2857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400" spc="0" u="none" cap="none">
                <a:solidFill>
                  <a:srgbClr val="1F2937">
                    <a:alpha val="100000"/>
                  </a:srgbClr>
                </a:solidFill>
                <a:latin typeface="Segoe UI"/>
              </a:rPr>
              <a:t><![CDATA[Ingrediënten]]></a:t>
            </a:r>
          </a:p>
        </p:txBody>
      </p:sp>
      <p:cxnSp>
        <p:nvCxnSpPr>
          <p:cNvPr id="6" name=""/>
          <p:cNvCxnSpPr/>
          <p:nvPr/>
        </p:nvCxnSpPr>
        <p:spPr>
          <a:xfrm>
            <a:off x="723900" y="1876425"/>
            <a:ext cx="6334125" cy="0"/>
          </a:xfrm>
          <a:prstGeom prst="line">
            <a:avLst/>
          </a:prstGeom>
          <a:ln w="9525" cap="flat" cmpd="sng" algn="ctr">
            <a:solidFill>
              <a:srgbClr val="E5E7EB">
                <a:alpha val="100000"/>
              </a:srgbClr>
            </a:solidFill>
            <a:prstDash val="solid"/>
            <a:round/>
            <a:headEnd type="none" w="med" len="med"/>
            <a:tailEnd type="none" w="med" len="med"/>
          </a:ln>
        </p:spPr>
      </p:cxnSp>
      <p:sp>
        <p:nvSpPr>
          <p:cNvPr id="7" name=""/>
          <p:cNvSpPr txBox="1"/>
          <p:nvPr/>
        </p:nvSpPr>
        <p:spPr>
          <a:xfrm>
            <a:off x="723900" y="2019300"/>
            <a:ext cx="6334125" cy="247650"/>
          </a:xfrm>
          <a:prstGeom prst="rect">
            <a:avLst/>
          </a:prstGeom>
          <a:solidFill>
            <a:srgbClr val="1F5F9">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8" name=""/>
          <p:cNvSpPr txBox="1"/>
          <p:nvPr/>
        </p:nvSpPr>
        <p:spPr>
          <a:xfrm>
            <a:off x="790575"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Ingrediënt]]></a:t>
            </a:r>
          </a:p>
        </p:txBody>
      </p:sp>
      <p:sp>
        <p:nvSpPr>
          <p:cNvPr id="9" name=""/>
          <p:cNvSpPr txBox="1"/>
          <p:nvPr/>
        </p:nvSpPr>
        <p:spPr>
          <a:xfrm>
            <a:off x="3886200" y="2047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b="1" strike="noStrike" sz="1000" spc="0" u="none" cap="none">
                <a:solidFill>
                  <a:srgbClr val="475569">
                    <a:alpha val="100000"/>
                  </a:srgbClr>
                </a:solidFill>
                <a:latin typeface="Segoe UI"/>
              </a:rPr>
              <a:t><![CDATA[Hoeveelheid]]></a:t>
            </a:r>
          </a:p>
        </p:txBody>
      </p:sp>
      <p:sp>
        <p:nvSpPr>
          <p:cNvPr id="10" name=""/>
          <p:cNvSpPr txBox="1"/>
          <p:nvPr/>
        </p:nvSpPr>
        <p:spPr>
          <a:xfrm>
            <a:off x="723900" y="2266950"/>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1" name=""/>
          <p:cNvSpPr txBox="1"/>
          <p:nvPr/>
        </p:nvSpPr>
        <p:spPr>
          <a:xfrm>
            <a:off x="790575"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nin passionfruit]]></a:t>
            </a:r>
          </a:p>
        </p:txBody>
      </p:sp>
      <p:sp>
        <p:nvSpPr>
          <p:cNvPr id="12" name=""/>
          <p:cNvSpPr txBox="1"/>
          <p:nvPr/>
        </p:nvSpPr>
        <p:spPr>
          <a:xfrm>
            <a:off x="3886200" y="230505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ML]]></a:t>
            </a:r>
          </a:p>
        </p:txBody>
      </p:sp>
      <p:cxnSp>
        <p:nvCxnSpPr>
          <p:cNvPr id="13" name=""/>
          <p:cNvCxnSpPr/>
          <p:nvPr/>
        </p:nvCxnSpPr>
        <p:spPr>
          <a:xfrm>
            <a:off x="723900" y="25241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4" name=""/>
          <p:cNvSpPr txBox="1"/>
          <p:nvPr/>
        </p:nvSpPr>
        <p:spPr>
          <a:xfrm>
            <a:off x="723900" y="25241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5" name=""/>
          <p:cNvSpPr txBox="1"/>
          <p:nvPr/>
        </p:nvSpPr>
        <p:spPr>
          <a:xfrm>
            <a:off x="790575"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Mojito siroop]]></a:t>
            </a:r>
          </a:p>
        </p:txBody>
      </p:sp>
      <p:sp>
        <p:nvSpPr>
          <p:cNvPr id="16" name=""/>
          <p:cNvSpPr txBox="1"/>
          <p:nvPr/>
        </p:nvSpPr>
        <p:spPr>
          <a:xfrm>
            <a:off x="3886200" y="2552700"/>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10 ML]]></a:t>
            </a:r>
          </a:p>
        </p:txBody>
      </p:sp>
      <p:cxnSp>
        <p:nvCxnSpPr>
          <p:cNvPr id="17" name=""/>
          <p:cNvCxnSpPr/>
          <p:nvPr/>
        </p:nvCxnSpPr>
        <p:spPr>
          <a:xfrm>
            <a:off x="723900" y="277177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18" name=""/>
          <p:cNvSpPr txBox="1"/>
          <p:nvPr/>
        </p:nvSpPr>
        <p:spPr>
          <a:xfrm>
            <a:off x="723900" y="2771775"/>
            <a:ext cx="6334125" cy="247650"/>
          </a:xfrm>
          <a:prstGeom prst="rect">
            <a:avLst/>
          </a:prstGeom>
          <a:solidFill>
            <a:srgbClr val="7ED">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19" name=""/>
          <p:cNvSpPr txBox="1"/>
          <p:nvPr/>
        </p:nvSpPr>
        <p:spPr>
          <a:xfrm>
            <a:off x="790575"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Citroensap]]></a:t>
            </a:r>
          </a:p>
        </p:txBody>
      </p:sp>
      <p:sp>
        <p:nvSpPr>
          <p:cNvPr id="20" name=""/>
          <p:cNvSpPr txBox="1"/>
          <p:nvPr/>
        </p:nvSpPr>
        <p:spPr>
          <a:xfrm>
            <a:off x="3886200" y="280987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20 ML]]></a:t>
            </a:r>
          </a:p>
        </p:txBody>
      </p:sp>
      <p:cxnSp>
        <p:nvCxnSpPr>
          <p:cNvPr id="21" name=""/>
          <p:cNvCxnSpPr/>
          <p:nvPr/>
        </p:nvCxnSpPr>
        <p:spPr>
          <a:xfrm>
            <a:off x="723900" y="3019425"/>
            <a:ext cx="6334125" cy="0"/>
          </a:xfrm>
          <a:prstGeom prst="line">
            <a:avLst/>
          </a:prstGeom>
          <a:ln w="9525" cap="flat" cmpd="sng" algn="ctr">
            <a:solidFill>
              <a:srgbClr val="EDF2F7">
                <a:alpha val="100000"/>
              </a:srgbClr>
            </a:solidFill>
            <a:prstDash val="solid"/>
            <a:round/>
            <a:headEnd type="none" w="med" len="med"/>
            <a:tailEnd type="none" w="med" len="med"/>
          </a:ln>
        </p:spPr>
      </p:cxnSp>
      <p:sp>
        <p:nvSpPr>
          <p:cNvPr id="22" name=""/>
          <p:cNvSpPr txBox="1"/>
          <p:nvPr/>
        </p:nvSpPr>
        <p:spPr>
          <a:xfrm>
            <a:off x="723900" y="3019425"/>
            <a:ext cx="6334125" cy="247650"/>
          </a:xfrm>
          <a:prstGeom prst="rect">
            <a:avLst/>
          </a:prstGeom>
          <a:solidFill>
            <a:srgbClr val="DF8">
              <a:alpha val="100000"/>
            </a:srgbClr>
          </a:solidFill>
        </p:spPr>
        <p:txBody>
          <a:bodyPr anchorCtr="0" rtlCol="0" vert="horz" bIns="0" lIns="0" rIns="0" tIns="0">
            <a:spAutoFit/>
          </a:bodyPr>
          <a:lstStyle/>
          <a:p>
            <a:pPr algn="l" rtl="0" fontAlgn="base" marL="0" marR="0" indent="0" lvl="0">
              <a:lnSpc>
                <a:spcPct val="100000"/>
              </a:lnSpc>
              <a:spcBef>
                <a:spcPts val="0"/>
              </a:spcBef>
              <a:spcAft>
                <a:spcPts val="0"/>
              </a:spcAft>
            </a:pPr>
          </a:p>
        </p:txBody>
      </p:sp>
      <p:sp>
        <p:nvSpPr>
          <p:cNvPr id="23" name=""/>
          <p:cNvSpPr txBox="1"/>
          <p:nvPr/>
        </p:nvSpPr>
        <p:spPr>
          <a:xfrm>
            <a:off x="790575"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Ginger ale]]></a:t>
            </a:r>
          </a:p>
        </p:txBody>
      </p:sp>
      <p:sp>
        <p:nvSpPr>
          <p:cNvPr id="24" name=""/>
          <p:cNvSpPr txBox="1"/>
          <p:nvPr/>
        </p:nvSpPr>
        <p:spPr>
          <a:xfrm>
            <a:off x="3886200" y="3057525"/>
            <a:ext cx="3171825" cy="247650"/>
          </a:xfrm>
          <a:prstGeom prst="rect">
            <a:avLst/>
          </a:prstGeom>
          <a:noFill/>
        </p:spPr>
        <p:txBody>
          <a:bodyPr anchorCtr="0" rtlCol="0" vert="horz" bIns="45720" lIns="91440" rIns="91440" tIns="45720">
            <a:spAutoFit/>
          </a:bodyPr>
          <a:lstStyle/>
          <a:p>
            <a:pPr algn="l" rtl="0" fontAlgn="base" marL="0" marR="0" indent="0" lvl="0">
              <a:lnSpc>
                <a:spcPct val="100000"/>
              </a:lnSpc>
              <a:spcBef>
                <a:spcPts val="0"/>
              </a:spcBef>
              <a:spcAft>
                <a:spcPts val="0"/>
              </a:spcAft>
            </a:pPr>
            <a:r>
              <a:rPr lang="en-US" strike="noStrike" sz="1000" spc="0" u="none" cap="none">
                <a:solidFill>
                  <a:srgbClr val="374151">
                    <a:alpha val="100000"/>
                  </a:srgbClr>
                </a:solidFill>
                <a:latin typeface="Segoe UI"/>
              </a:rPr>
              <a:t><![CDATA[30 ML]]></a:t>
            </a:r>
          </a:p>
        </p:txBody>
      </p:sp>
      <p:cxnSp>
        <p:nvCxnSpPr>
          <p:cNvPr id="25" name=""/>
          <p:cNvCxnSpPr/>
          <p:nvPr/>
        </p:nvCxnSpPr>
        <p:spPr>
          <a:xfrm>
            <a:off x="723900" y="3276600"/>
            <a:ext cx="6334125" cy="0"/>
          </a:xfrm>
          <a:prstGeom prst="line">
            <a:avLst/>
          </a:prstGeom>
          <a:ln w="9525" cap="flat" cmpd="sng" algn="ctr">
            <a:solidFill>
              <a:srgbClr val="EDF2F7">
                <a:alpha val="100000"/>
              </a:srgbClr>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Theme76">
  <a:themeElements>
    <a:clrScheme name="Theme7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76">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7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24</Slides>
  <ScaleCrop>false</ScaleCrop>
  <HeadingPairs>
    <vt:vector size="4" baseType="variant">
      <vt:variant>
        <vt:lpstr>Theme</vt:lpstr>
      </vt:variant>
      <vt:variant>
        <vt:i4>1</vt:i4>
      </vt:variant>
      <vt:variant>
        <vt:lpstr>Slide Titles</vt:lpstr>
      </vt:variant>
      <vt:variant>
        <vt:i4>1</vt:i4>
      </vt:variant>
    </vt:vector>
  </HeadingPairs>
  <TitlesOfParts>
    <vt:vector size="1" baseType="lpstr">
      <vt:lpstr>Office Theme</vt:lpstr>
    </vt:vector>
  </TitlesOfParts>
  <Company>Unknown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Unknown Creator</dc:creator>
  <cp:lastModifiedBy>Unknown Creator</cp:lastModifiedBy>
  <dcterms:created xsi:type="dcterms:W3CDTF">2026-06-10T21:48:50Z</dcterms:created>
  <dcterms:modified xsi:type="dcterms:W3CDTF">2026-06-10T21:48:50Z</dcterms:modified>
  <dc:title>Untitled Presentation</dc:title>
  <dc:description/>
  <dc:subject/>
  <cp:keywords/>
  <cp:category/>
  <cp:revision/>
  <cp:contentStatus/>
</cp:coreProperties>
</file>

<file path=docProps/custom.xml><?xml version="1.0" encoding="utf-8"?>
<Properties xmlns="http://schemas.openxmlformats.org/officeDocument/2006/custom-properties" xmlns:vt="http://schemas.openxmlformats.org/officeDocument/2006/docPropsVTypes"/>
</file>